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86c38ac17a441fa" /><Relationship Type="http://schemas.openxmlformats.org/officeDocument/2006/relationships/extended-properties" Target="/docProps/app.xml" Id="Rbe2e303f3bf54845" /><Relationship Type="http://schemas.openxmlformats.org/officeDocument/2006/relationships/officeDocument" Target="/ppt/presentation.xml" Id="R45e916072d7c4f4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d78278b950843e2"/>
  </p:sldMasterIdLst>
  <p:notesMasterIdLst>
    <p:notesMasterId xmlns:r="http://schemas.openxmlformats.org/officeDocument/2006/relationships" r:id="Reee3519fecd84694"/>
  </p:notesMasterIdLst>
  <p:sldIdLst>
    <p:sldId xmlns:r="http://schemas.openxmlformats.org/officeDocument/2006/relationships" id="256" r:id="R05a3a1c0149246a7"/>
    <p:sldId xmlns:r="http://schemas.openxmlformats.org/officeDocument/2006/relationships" id="257" r:id="R8cff2877621147b4"/>
    <p:sldId xmlns:r="http://schemas.openxmlformats.org/officeDocument/2006/relationships" id="258" r:id="R884949bc718b45b7"/>
    <p:sldId xmlns:r="http://schemas.openxmlformats.org/officeDocument/2006/relationships" id="259" r:id="R1a91690b7b5246c1"/>
    <p:sldId xmlns:r="http://schemas.openxmlformats.org/officeDocument/2006/relationships" id="260" r:id="R432ece5a2b4c4f0c"/>
    <p:sldId xmlns:r="http://schemas.openxmlformats.org/officeDocument/2006/relationships" id="261" r:id="Rfa4b09f21b1b47a7"/>
    <p:sldId xmlns:r="http://schemas.openxmlformats.org/officeDocument/2006/relationships" id="262" r:id="Rdb06f9c0451a4eb7"/>
    <p:sldId xmlns:r="http://schemas.openxmlformats.org/officeDocument/2006/relationships" id="263" r:id="R28540425317c453d"/>
    <p:sldId xmlns:r="http://schemas.openxmlformats.org/officeDocument/2006/relationships" id="264" r:id="Rac7fe4bc98734a60"/>
    <p:sldId xmlns:r="http://schemas.openxmlformats.org/officeDocument/2006/relationships" id="265" r:id="R5f15111aa529482b"/>
    <p:sldId xmlns:r="http://schemas.openxmlformats.org/officeDocument/2006/relationships" id="266" r:id="Rc96cf86756bb429f"/>
    <p:sldId xmlns:r="http://schemas.openxmlformats.org/officeDocument/2006/relationships" id="267" r:id="Rf60c4e5d749b4a7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a1405f262aa43c0" /><Relationship Type="http://schemas.openxmlformats.org/officeDocument/2006/relationships/slideMaster" Target="/ppt/slideMasters/slideMaster1.xml" Id="Rbd78278b950843e2" /><Relationship Type="http://schemas.openxmlformats.org/officeDocument/2006/relationships/notesMaster" Target="/ppt/notesMasters/notesMaster1.xml" Id="Reee3519fecd84694" /><Relationship Type="http://schemas.openxmlformats.org/officeDocument/2006/relationships/presProps" Target="/ppt/presProps.xml" Id="R7aa95277c0d34d4f" /><Relationship Type="http://schemas.openxmlformats.org/officeDocument/2006/relationships/viewProps" Target="/ppt/viewProps.xml" Id="R2a7ae9e94fa74470" /><Relationship Type="http://schemas.openxmlformats.org/officeDocument/2006/relationships/tableStyles" Target="/ppt/tableStyles.xml" Id="R745025be1ef446a4" /><Relationship Type="http://schemas.openxmlformats.org/officeDocument/2006/relationships/slide" Target="/ppt/slides/slide1.xml" Id="R05a3a1c0149246a7" /><Relationship Type="http://schemas.openxmlformats.org/officeDocument/2006/relationships/slide" Target="/ppt/slides/slide2.xml" Id="R8cff2877621147b4" /><Relationship Type="http://schemas.openxmlformats.org/officeDocument/2006/relationships/slide" Target="/ppt/slides/slide3.xml" Id="R884949bc718b45b7" /><Relationship Type="http://schemas.openxmlformats.org/officeDocument/2006/relationships/slide" Target="/ppt/slides/slide4.xml" Id="R1a91690b7b5246c1" /><Relationship Type="http://schemas.openxmlformats.org/officeDocument/2006/relationships/slide" Target="/ppt/slides/slide5.xml" Id="R432ece5a2b4c4f0c" /><Relationship Type="http://schemas.openxmlformats.org/officeDocument/2006/relationships/slide" Target="/ppt/slides/slide6.xml" Id="Rfa4b09f21b1b47a7" /><Relationship Type="http://schemas.openxmlformats.org/officeDocument/2006/relationships/slide" Target="/ppt/slides/slide7.xml" Id="Rdb06f9c0451a4eb7" /><Relationship Type="http://schemas.openxmlformats.org/officeDocument/2006/relationships/slide" Target="/ppt/slides/slide8.xml" Id="R28540425317c453d" /><Relationship Type="http://schemas.openxmlformats.org/officeDocument/2006/relationships/slide" Target="/ppt/slides/slide9.xml" Id="Rac7fe4bc98734a60" /><Relationship Type="http://schemas.openxmlformats.org/officeDocument/2006/relationships/slide" Target="/ppt/slides/slide10.xml" Id="R5f15111aa529482b" /><Relationship Type="http://schemas.openxmlformats.org/officeDocument/2006/relationships/slide" Target="/ppt/slides/slide11.xml" Id="Rc96cf86756bb429f" /><Relationship Type="http://schemas.openxmlformats.org/officeDocument/2006/relationships/slide" Target="/ppt/slides/slide12.xml" Id="Rf60c4e5d749b4a7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138fb6ea4264e1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封面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7fb28747a124936" /><Relationship Type="http://schemas.openxmlformats.org/officeDocument/2006/relationships/notesMaster" Target="/ppt/notesMasters/notesMaster1.xml" Id="R59b421ecb758454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6dd6556b6764ad5" /><Relationship Type="http://schemas.openxmlformats.org/officeDocument/2006/relationships/notesMaster" Target="/ppt/notesMasters/notesMaster1.xml" Id="R639a41e5c56040d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5a07248dbf74acc" /><Relationship Type="http://schemas.openxmlformats.org/officeDocument/2006/relationships/notesMaster" Target="/ppt/notesMasters/notesMaster1.xml" Id="Rfa12b866b1c849d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6d6911a8a434129" /><Relationship Type="http://schemas.openxmlformats.org/officeDocument/2006/relationships/notesMaster" Target="/ppt/notesMasters/notesMaster1.xml" Id="R81d1f8ba2b5a40e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529283c02cb4158" /><Relationship Type="http://schemas.openxmlformats.org/officeDocument/2006/relationships/notesMaster" Target="/ppt/notesMasters/notesMaster1.xml" Id="R9fd868f6c92d4e3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1fc5d71f48148ca" /><Relationship Type="http://schemas.openxmlformats.org/officeDocument/2006/relationships/notesMaster" Target="/ppt/notesMasters/notesMaster1.xml" Id="Rd76c9c9a6b72449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67b44f883a94031" /><Relationship Type="http://schemas.openxmlformats.org/officeDocument/2006/relationships/notesMaster" Target="/ppt/notesMasters/notesMaster1.xml" Id="R8baf4f8e7b86495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0a66d15790f4b4b" /><Relationship Type="http://schemas.openxmlformats.org/officeDocument/2006/relationships/notesMaster" Target="/ppt/notesMasters/notesMaster1.xml" Id="R3a52fdc1e3934a8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a5fb2f650624112" /><Relationship Type="http://schemas.openxmlformats.org/officeDocument/2006/relationships/notesMaster" Target="/ppt/notesMasters/notesMaster1.xml" Id="R9554b698316f41a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1eea86569884032" /><Relationship Type="http://schemas.openxmlformats.org/officeDocument/2006/relationships/notesMaster" Target="/ppt/notesMasters/notesMaster1.xml" Id="R83d6b73e51ee430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2b485b1e98b49c8" /><Relationship Type="http://schemas.openxmlformats.org/officeDocument/2006/relationships/notesMaster" Target="/ppt/notesMasters/notesMaster1.xml" Id="R8ad35fa5c71e4fc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8a4294acfd34c51" /><Relationship Type="http://schemas.openxmlformats.org/officeDocument/2006/relationships/notesMaster" Target="/ppt/notesMasters/notesMaster1.xml" Id="R525eb521896e45b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作品重点是把模型执行连接到可审查的研发交付。所有效果声明只引用本包证据。</a:t>
            </a:r>
          </a:p>
          <a:p xmlns:a="http://schemas.openxmlformats.org/drawingml/2006/main">
            <a:r>
              <a:t>源码基线 7076541e445a9f2da365b52fce74cf6df3c4ff17</a:t>
            </a:r>
          </a:p>
          <a:p xmlns:a="http://schemas.openxmlformats.org/drawingml/2006/main">
            <a:r>
              <a:t>来源：随包 TECHNICAL_PROPOSAL.md、EVALUATION_REPORT.md、evidence/*.json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对应官方作品要求五项内容：简介、能力、技术、评估、商业价值。</a:t>
            </a:r>
          </a:p>
          <a:p xmlns:a="http://schemas.openxmlformats.org/drawingml/2006/main">
            <a:r>
              <a:t>源码基线 7076541e445a9f2da365b52fce74cf6df3c4ff17</a:t>
            </a:r>
          </a:p>
          <a:p xmlns:a="http://schemas.openxmlformats.org/drawingml/2006/main">
            <a:r>
              <a:t>来源：随包 TECHNICAL_PROPOSAL.md、EVALUATION_REPORT.md、evidence/*.json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作品名称 DevOpsPilot；参赛团队 CodeArts；赛道 2026模型应用赛。作品面向研发维护人员，将真实 Issue 接入、模型执行、代码变更、独立审查、PR、CI 与交付证据连接到一个本机 Web 工作台。</a:t>
            </a:r>
          </a:p>
          <a:p xmlns:a="http://schemas.openxmlformats.org/drawingml/2006/main">
            <a:r>
              <a:t>源码基线 7076541e445a9f2da365b52fce74cf6df3c4ff17</a:t>
            </a:r>
          </a:p>
          <a:p xmlns:a="http://schemas.openxmlformats.org/drawingml/2006/main">
            <a:r>
              <a:t>来源：随包 TECHNICAL_PROPOSAL.md、EVALUATION_REPORT.md、evidence/*.json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五阶段是产品状态视图，不承诺五个常驻独立Agent。截图来自本机真实数据库。</a:t>
            </a:r>
          </a:p>
          <a:p xmlns:a="http://schemas.openxmlformats.org/drawingml/2006/main">
            <a:r>
              <a:t>源码基线 7076541e445a9f2da365b52fce74cf6df3c4ff17</a:t>
            </a:r>
          </a:p>
          <a:p xmlns:a="http://schemas.openxmlformats.org/drawingml/2006/main">
            <a:r>
              <a:t>来源：随包 TECHNICAL_PROPOSAL.md、EVALUATION_REPORT.md、evidence/*.json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Web和CLI是接入层。ConsoleService读取canonical SQLite交付payload，并使用旁路console数据库保存项目、作业、预约和问答。控制面负责意图、计划、预算、状态与恢复；执行适配器承接OpenJiuwen运行；SCM和CI适配器读取或写入真实平台；验证器决定verified、rejected、pending与degraded。</a:t>
            </a:r>
          </a:p>
          <a:p xmlns:a="http://schemas.openxmlformats.org/drawingml/2006/main">
            <a:r>
              <a:t>源码基线 7076541e445a9f2da365b52fce74cf6df3c4ff17</a:t>
            </a:r>
          </a:p>
          <a:p xmlns:a="http://schemas.openxmlformats.org/drawingml/2006/main">
            <a:r>
              <a:t>来源：随包 TECHNICAL_PROPOSAL.md、EVALUATION_REPORT.md、evidence/*.json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执行上下文包含目标、任务来源、仓库状态、允许路径、测试命令与预算。提示明确要求读取代码、做最小修改、执行测试、停止无关任务板循环；但提示并非权限隔离。路径验证与执行后检查在宿主侧执行，工作目录不能被视为安全沙箱。 独立Reviewer为只读模型调用，收到实际最终diff与独立测试结果。system prompt把diff和测试文本视为不可信数据，要求返回结构化approved/rejected、summary、findings；宿主计算diff摘要并生成审查时间。严格Live启动强制require_review，缺失、拒绝、格式错误或diff不匹配阻断提交。</a:t>
            </a:r>
          </a:p>
          <a:p xmlns:a="http://schemas.openxmlformats.org/drawingml/2006/main">
            <a:r>
              <a:t>源码基线 7076541e445a9f2da365b52fce74cf6df3c4ff17</a:t>
            </a:r>
          </a:p>
          <a:p xmlns:a="http://schemas.openxmlformats.org/drawingml/2006/main">
            <a:r>
              <a:t>来源：随包 TECHNICAL_PROPOSAL.md、EVALUATION_REPORT.md、evidence/*.json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工作目录不是权限沙箱。当前版本是可信本机操作员控制台，暂无企业认证/RBAC。</a:t>
            </a:r>
          </a:p>
          <a:p xmlns:a="http://schemas.openxmlformats.org/drawingml/2006/main">
            <a:r>
              <a:t>源码基线 7076541e445a9f2da365b52fce74cf6df3c4ff17</a:t>
            </a:r>
          </a:p>
          <a:p xmlns:a="http://schemas.openxmlformats.org/drawingml/2006/main">
            <a:r>
              <a:t>来源：随包 TECHNICAL_PROPOSAL.md、EVALUATION_REPORT.md、evidence/*.json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2026年10月7日经Web启动GitHub Issue #7：Add fixture status metadata。操作范围仅为e2e/fixtures/github_delivery/app.py与test_app.py，保留原status行为并增加status_metadata和断言。真实PR #8保持未合并，交付commit为105d74d7fe03f33163dde036ce1d4abba960a3c7。 该首次运行产生有效代码后，AgentTeam未干净结束而达到超时边界。原执行遗漏前置审查，随后进行了真实发布后补审。最终状态verified_degraded，task_success=true、runtime_clean_completion=false。严格Live门禁现已修复，完整修复后Live重跑尚未完成；不能将补审作为原发布前审查成功证据。 来源 evidence/web-console-delivery.json</a:t>
            </a:r>
          </a:p>
          <a:p xmlns:a="http://schemas.openxmlformats.org/drawingml/2006/main">
            <a:r>
              <a:t>源码基线 7076541e445a9f2da365b52fce74cf6df3c4ff17</a:t>
            </a:r>
          </a:p>
          <a:p xmlns:a="http://schemas.openxmlformats.org/drawingml/2006/main">
            <a:r>
              <a:t>来源：随包 TECHNICAL_PROPOSAL.md、EVALUATION_REPORT.md、evidence/*.json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41项是组件回归，24项是fixture初始契约验证，均不能当作真实业务修复成功率。来源EVALUATION_REPORT.md。</a:t>
            </a:r>
          </a:p>
          <a:p xmlns:a="http://schemas.openxmlformats.org/drawingml/2006/main">
            <a:r>
              <a:t>源码基线 7076541e445a9f2da365b52fce74cf6df3c4ff17</a:t>
            </a:r>
          </a:p>
          <a:p xmlns:a="http://schemas.openxmlformats.org/drawingml/2006/main">
            <a:r>
              <a:t>来源：随包 TECHNICAL_PROPOSAL.md、EVALUATION_REPORT.md、evidence/*.json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尚无付费客户和ROI实测。商业模式是拟议方案，不是已取得商业成果。</a:t>
            </a:r>
          </a:p>
          <a:p xmlns:a="http://schemas.openxmlformats.org/drawingml/2006/main">
            <a:r>
              <a:t>源码基线 7076541e445a9f2da365b52fce74cf6df3c4ff17</a:t>
            </a:r>
          </a:p>
          <a:p xmlns:a="http://schemas.openxmlformats.org/drawingml/2006/main">
            <a:r>
              <a:t>来源：随包 TECHNICAL_PROPOSAL.md、EVALUATION_REPORT.md、evidence/*.json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所有未来里程碑按证据验收，不将计划标为完成。详细角色、依赖与退出条件见ROADMAP.md。</a:t>
            </a:r>
          </a:p>
          <a:p xmlns:a="http://schemas.openxmlformats.org/drawingml/2006/main">
            <a:r>
              <a:t>源码基线 7076541e445a9f2da365b52fce74cf6df3c4ff17</a:t>
            </a:r>
          </a:p>
          <a:p xmlns:a="http://schemas.openxmlformats.org/drawingml/2006/main">
            <a:r>
              <a:t>来源：随包 TECHNICAL_PROPOSAL.md、EVALUATION_REPORT.md、evidence/*.json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最终是否提交由队长核对官方规则、团队信息和运行边界后确认。</a:t>
            </a:r>
          </a:p>
          <a:p xmlns:a="http://schemas.openxmlformats.org/drawingml/2006/main">
            <a:r>
              <a:t>源码基线 7076541e445a9f2da365b52fce74cf6df3c4ff17</a:t>
            </a:r>
          </a:p>
          <a:p xmlns:a="http://schemas.openxmlformats.org/drawingml/2006/main">
            <a:r>
              <a:t>来源：随包 TECHNICAL_PROPOSAL.md、EVALUATION_REPORT.md、evidence/*.json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57ef24437d48f9" /><Relationship Type="http://schemas.openxmlformats.org/officeDocument/2006/relationships/image" Target="/ppt/media/image.png" Id="R4347e5977b304e7f" /><Relationship Type="http://schemas.openxmlformats.org/officeDocument/2006/relationships/image" Target="/ppt/media/image2.png" Id="R5e40f08db84c4d04" /><Relationship Type="http://schemas.openxmlformats.org/officeDocument/2006/relationships/image" Target="/ppt/media/image3.png" Id="Rd4cd17fe91db4d3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cf8a3f436b4aaa" /><Relationship Type="http://schemas.openxmlformats.org/officeDocument/2006/relationships/image" Target="/ppt/media/image4.png" Id="R5fb00cf13c5e4f1b" /><Relationship Type="http://schemas.openxmlformats.org/officeDocument/2006/relationships/image" Target="/ppt/media/image2.png" Id="R43347e7314e44bd0" /><Relationship Type="http://schemas.openxmlformats.org/officeDocument/2006/relationships/image" Target="/ppt/media/image3.png" Id="R19003797a6ea4ee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7c000f52eb499a" /><Relationship Type="http://schemas.openxmlformats.org/officeDocument/2006/relationships/image" Target="/ppt/media/image4.png" Id="R85855442792c4c10" /><Relationship Type="http://schemas.openxmlformats.org/officeDocument/2006/relationships/image" Target="/ppt/media/image2.png" Id="Rea73a6419cd342ae" /><Relationship Type="http://schemas.openxmlformats.org/officeDocument/2006/relationships/image" Target="/ppt/media/image3.png" Id="R121ca03c6e97406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a4cbb7808f461a" /><Relationship Type="http://schemas.openxmlformats.org/officeDocument/2006/relationships/image" Target="/ppt/media/image4.png" Id="R3181873c0d1f4d57" /><Relationship Type="http://schemas.openxmlformats.org/officeDocument/2006/relationships/image" Target="/ppt/media/image2.png" Id="R4999fb4a9e1f46aa" /><Relationship Type="http://schemas.openxmlformats.org/officeDocument/2006/relationships/image" Target="/ppt/media/image3.png" Id="Rf827177724d7402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453fd741d14075" /><Relationship Type="http://schemas.openxmlformats.org/officeDocument/2006/relationships/image" Target="/ppt/media/image.png" Id="R874c5c6c8b984f08" /><Relationship Type="http://schemas.openxmlformats.org/officeDocument/2006/relationships/image" Target="/ppt/media/image2.png" Id="R44b1e2bee1df4c0c" /><Relationship Type="http://schemas.openxmlformats.org/officeDocument/2006/relationships/image" Target="/ppt/media/image3.png" Id="R6013cd9b314b48a6" /></Relationships>
</file>

<file path=ppt/slideLayouts/slideLayout1.xml><?xml version="1.0" encoding="utf-8"?>
<p:sldLayout xmlns:p="http://schemas.openxmlformats.org/presentationml/2006/main" type="title" preserve="1">
  <p:cSld name="封面">
    <p:bg>
      <p:bgPr>
        <a:blipFill xmlns:a="http://schemas.openxmlformats.org/drawingml/2006/main" rotWithShape="1">
          <a:blip xmlns:r="http://schemas.openxmlformats.org/officeDocument/2006/relationships" r:embed="R4347e5977b304e7f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40f08db84c4d04"/>
          <a:srcRect xmlns:a="http://schemas.openxmlformats.org/drawingml/2006/main" l="0" t="0" r="3291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1965" y="440690"/>
            <a:ext cx="3015615" cy="411480"/>
          </a:xfrm>
          <a:prstGeom xmlns:a="http://schemas.openxmlformats.org/drawingml/2006/main" prst="rect">
            <a:avLst/>
          </a:prstGeom>
        </p:spPr>
      </p:pic>
      <p:pic>
        <p:nvPicPr>
          <p:cNvPr id="13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cd17fe91db4d3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50970" y="381635"/>
            <a:ext cx="529590" cy="529590"/>
          </a:xfrm>
          <a:prstGeom xmlns:a="http://schemas.openxmlformats.org/drawingml/2006/main" prst="rect">
            <a:avLst/>
          </a:prstGeom>
        </p:spPr>
      </p:pic>
      <p:sp>
        <p:nvSpPr>
          <p:cNvPr id="9" name="文本占位符 8">
            <a:extLst xmlns:a="http://schemas.openxmlformats.org/drawingml/2006/main">
              <a:ext uri="{FF2B5EF4-FFF2-40B4-BE49-F238E27FC236}">
                <a16:creationId xmlns:a16="http://schemas.microsoft.com/office/drawing/2014/main" id="{73B864AC-40EB-4D8E-AB45-504D99373D05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831850" y="2058035"/>
            <a:ext cx="4761230" cy="10915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 marL="0" indent="0" algn="l">
              <a:buNone/>
              <a:defRPr sz="5000" b="1">
                <a:gradFill>
                  <a:gsLst>
                    <a:gs pos="0">
                      <a:schemeClr val="bg1"/>
                    </a:gs>
                    <a:gs pos="100000">
                      <a:srgbClr val="92BAFF"/>
                    </a:gs>
                  </a:gsLst>
                  <a:lin ang="0" scaled="0"/>
                </a:gradFill>
              </a:defRPr>
            </a:lvl1pPr>
          </a:lstStyle>
          <a:p xmlns:a="http://schemas.openxmlformats.org/drawingml/2006/main">
            <a:pPr lvl="0">
              <a:buNone/>
            </a:pPr>
            <a:r>
              <a:t>请输入您的标题</a:t>
            </a:r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目录">
    <p:bg>
      <p:bgPr>
        <a:blipFill xmlns:a="http://schemas.openxmlformats.org/drawingml/2006/main" rotWithShape="1">
          <a:blip xmlns:r="http://schemas.openxmlformats.org/officeDocument/2006/relationships" r:embed="R5fb00cf13c5e4f1b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5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347e7314e44bd0"/>
          <a:srcRect xmlns:a="http://schemas.openxmlformats.org/drawingml/2006/main" l="0" t="0" r="3257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7660" y="251460"/>
            <a:ext cx="2133600" cy="289560"/>
          </a:xfrm>
          <a:prstGeom xmlns:a="http://schemas.openxmlformats.org/drawingml/2006/main" prst="rect">
            <a:avLst/>
          </a:prstGeom>
        </p:spPr>
      </p:pic>
      <p:pic>
        <p:nvPicPr>
          <p:cNvPr id="36" name="图片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003797a6ea4ee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672080" y="216535"/>
            <a:ext cx="358775" cy="359410"/>
          </a:xfrm>
          <a:prstGeom xmlns:a="http://schemas.openxmlformats.org/drawingml/2006/main" prst="rect">
            <a:avLst/>
          </a:prstGeom>
        </p:spPr>
      </p:pic>
      <p:sp>
        <p:nvSpPr>
          <p:cNvPr id="23" name="圆角矩形 22">
            <a:extLst xmlns:a="http://schemas.openxmlformats.org/drawingml/2006/main">
              <a:ext uri="{FF2B5EF4-FFF2-40B4-BE49-F238E27FC236}">
                <a16:creationId xmlns:a16="http://schemas.microsoft.com/office/drawing/2014/main" id="{0A2B6C97-AA74-4003-9DAB-B60926A07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374265"/>
            <a:ext cx="360000" cy="3600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0">
                <a:srgbClr val="337DFF">
                  <a:alpha val="100000"/>
                </a:srgbClr>
              </a:gs>
              <a:gs pos="100000">
                <a:srgbClr val="33CDFF">
                  <a:alpha val="100000"/>
                </a:srgbClr>
              </a:gs>
            </a:gsLst>
            <a:lin ang="0" scaled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6" name="圆角矩形 25">
            <a:extLst xmlns:a="http://schemas.openxmlformats.org/drawingml/2006/main">
              <a:ext uri="{FF2B5EF4-FFF2-40B4-BE49-F238E27FC236}">
                <a16:creationId xmlns:a16="http://schemas.microsoft.com/office/drawing/2014/main" id="{38AB79D9-BFED-471D-A7C0-B20384F5E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374265"/>
            <a:ext cx="360000" cy="3600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0">
                <a:srgbClr val="337DFF">
                  <a:alpha val="100000"/>
                </a:srgbClr>
              </a:gs>
              <a:gs pos="100000">
                <a:srgbClr val="33CDFF">
                  <a:alpha val="100000"/>
                </a:srgbClr>
              </a:gs>
            </a:gsLst>
            <a:lin ang="0" scaled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9" name="圆角矩形 28">
            <a:extLst xmlns:a="http://schemas.openxmlformats.org/drawingml/2006/main">
              <a:ext uri="{FF2B5EF4-FFF2-40B4-BE49-F238E27FC236}">
                <a16:creationId xmlns:a16="http://schemas.microsoft.com/office/drawing/2014/main" id="{50683450-DF63-4698-880A-DB9141580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249420"/>
            <a:ext cx="360000" cy="3600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0">
                <a:srgbClr val="337DFF">
                  <a:alpha val="100000"/>
                </a:srgbClr>
              </a:gs>
              <a:gs pos="100000">
                <a:srgbClr val="33CDFF">
                  <a:alpha val="100000"/>
                </a:srgbClr>
              </a:gs>
            </a:gsLst>
            <a:lin ang="0" scaled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2" name="圆角矩形 31">
            <a:extLst xmlns:a="http://schemas.openxmlformats.org/drawingml/2006/main">
              <a:ext uri="{FF2B5EF4-FFF2-40B4-BE49-F238E27FC236}">
                <a16:creationId xmlns:a16="http://schemas.microsoft.com/office/drawing/2014/main" id="{AED4EA0E-B0ED-4FEA-AEE1-60BC65908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249420"/>
            <a:ext cx="360000" cy="3600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0">
                <a:srgbClr val="337DFF">
                  <a:alpha val="100000"/>
                </a:srgbClr>
              </a:gs>
              <a:gs pos="100000">
                <a:srgbClr val="33CDFF">
                  <a:alpha val="100000"/>
                </a:srgbClr>
              </a:gs>
            </a:gsLst>
            <a:lin ang="0" scaled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DF75C237-5C58-499A-BAC1-302BE09239CE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3486150" y="2374265"/>
            <a:ext cx="3371850" cy="5594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>
            <a:lvl1pPr marL="0" indent="0" algn="l">
              <a:buNone/>
              <a:defRPr sz="2800" b="1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请输入您的一级标题</a:t>
            </a:r>
            <a:endParaRPr/>
          </a:p>
        </p:txBody>
      </p:sp>
      <p:sp>
        <p:nvSpPr>
          <p:cNvPr id="6" name="文本占位符 5">
            <a:extLst xmlns:a="http://schemas.openxmlformats.org/drawingml/2006/main">
              <a:ext uri="{FF2B5EF4-FFF2-40B4-BE49-F238E27FC236}">
                <a16:creationId xmlns:a16="http://schemas.microsoft.com/office/drawing/2014/main" id="{5E18C772-8131-4439-BB0E-7002DA0F1A64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7727950" y="2374265"/>
            <a:ext cx="3371850" cy="5594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>
            <a:lvl1pPr marL="0" indent="0" algn="l">
              <a:buNone/>
              <a:defRPr sz="2800" b="1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请输入您的一级标题</a:t>
            </a:r>
            <a:endParaRPr/>
          </a:p>
        </p:txBody>
      </p:sp>
      <p:sp>
        <p:nvSpPr>
          <p:cNvPr id="7" name="文本占位符 6">
            <a:extLst xmlns:a="http://schemas.openxmlformats.org/drawingml/2006/main">
              <a:ext uri="{FF2B5EF4-FFF2-40B4-BE49-F238E27FC236}">
                <a16:creationId xmlns:a16="http://schemas.microsoft.com/office/drawing/2014/main" id="{6F5BD8EA-979D-4236-9FEC-01B9CB810141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3486150" y="4249420"/>
            <a:ext cx="3371850" cy="5594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>
            <a:lvl1pPr marL="0" indent="0" algn="l">
              <a:buNone/>
              <a:defRPr sz="2800" b="1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请输入您的一级标题</a:t>
            </a:r>
            <a:endParaRPr/>
          </a:p>
        </p:txBody>
      </p:sp>
      <p:sp>
        <p:nvSpPr>
          <p:cNvPr id="8" name="文本占位符 7">
            <a:extLst xmlns:a="http://schemas.openxmlformats.org/drawingml/2006/main">
              <a:ext uri="{FF2B5EF4-FFF2-40B4-BE49-F238E27FC236}">
                <a16:creationId xmlns:a16="http://schemas.microsoft.com/office/drawing/2014/main" id="{4D0FD5A5-6899-4726-85A9-E1B8AF7482E1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7727950" y="4249420"/>
            <a:ext cx="3371850" cy="5594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>
            <a:lvl1pPr marL="0" indent="0" algn="l">
              <a:buNone/>
              <a:defRPr sz="2800" b="1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请输入您的一级标题</a:t>
            </a:r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章节起始页">
    <p:bg>
      <p:bgPr>
        <a:blipFill xmlns:a="http://schemas.openxmlformats.org/drawingml/2006/main" rotWithShape="1">
          <a:blip xmlns:r="http://schemas.openxmlformats.org/officeDocument/2006/relationships" r:embed="R85855442792c4c1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73a6419cd342ae"/>
          <a:srcRect xmlns:a="http://schemas.openxmlformats.org/drawingml/2006/main" l="0" t="0" r="3257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7660" y="251460"/>
            <a:ext cx="2133600" cy="289560"/>
          </a:xfrm>
          <a:prstGeom xmlns:a="http://schemas.openxmlformats.org/drawingml/2006/main" prst="rect">
            <a:avLst/>
          </a:prstGeom>
        </p:spPr>
      </p:pic>
      <p:pic>
        <p:nvPicPr>
          <p:cNvPr id="9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1ca03c6e97406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672080" y="216535"/>
            <a:ext cx="358775" cy="359410"/>
          </a:xfrm>
          <a:prstGeom xmlns:a="http://schemas.openxmlformats.org/drawingml/2006/main" prst="rect">
            <a:avLst/>
          </a:prstGeom>
        </p:spPr>
      </p:pic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2C3409FD-2743-488F-9859-60AB3CBC9F09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3495675" y="2989580"/>
            <a:ext cx="5200650" cy="879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>
            <a:lvl1pPr marL="0" indent="0" algn="ctr">
              <a:buNone/>
              <a:defRPr sz="4400" b="1">
                <a:gradFill>
                  <a:gsLst>
                    <a:gs pos="0">
                      <a:schemeClr val="bg1"/>
                    </a:gs>
                    <a:gs pos="100000">
                      <a:srgbClr val="92BAFF"/>
                    </a:gs>
                  </a:gsLst>
                  <a:lin ang="0" scaled="0"/>
                </a:gradFill>
              </a:defRPr>
            </a:lvl1pPr>
          </a:lstStyle>
          <a:p xmlns:a="http://schemas.openxmlformats.org/drawingml/2006/main">
            <a:pPr lvl="0">
              <a:buNone/>
            </a:pPr>
            <a:r>
              <a:t>请输入您的一级标题</a:t>
            </a:r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正文">
    <p:bg>
      <p:bgPr>
        <a:blipFill xmlns:a="http://schemas.openxmlformats.org/drawingml/2006/main" rotWithShape="1">
          <a:blip xmlns:r="http://schemas.openxmlformats.org/officeDocument/2006/relationships" r:embed="R3181873c0d1f4d57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文本占位符 8">
            <a:extLst xmlns:a="http://schemas.openxmlformats.org/drawingml/2006/main">
              <a:ext uri="{FF2B5EF4-FFF2-40B4-BE49-F238E27FC236}">
                <a16:creationId xmlns:a16="http://schemas.microsoft.com/office/drawing/2014/main" id="{F3A0FE1D-63D0-4DF8-AED1-1576607A3482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4871085" y="687705"/>
            <a:ext cx="2449830" cy="5708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 marL="0" indent="0" algn="ctr">
              <a:buNone/>
              <a:defRPr sz="2400" b="1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请输入一级标题</a:t>
            </a:r>
            <a:endParaRPr/>
          </a:p>
        </p:txBody>
      </p:sp>
      <p:pic>
        <p:nvPicPr>
          <p:cNvPr id="13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99fb4a9e1f46aa"/>
          <a:srcRect xmlns:a="http://schemas.openxmlformats.org/drawingml/2006/main" l="0" t="0" r="3257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7660" y="251460"/>
            <a:ext cx="2133600" cy="289560"/>
          </a:xfrm>
          <a:prstGeom xmlns:a="http://schemas.openxmlformats.org/drawingml/2006/main" prst="rect">
            <a:avLst/>
          </a:prstGeom>
        </p:spPr>
      </p:pic>
      <p:pic>
        <p:nvPicPr>
          <p:cNvPr id="14" name="图片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27177724d7402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672080" y="216535"/>
            <a:ext cx="358775" cy="359410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5.xml><?xml version="1.0" encoding="utf-8"?>
<p:sldLayout xmlns:p="http://schemas.openxmlformats.org/presentationml/2006/main" type="blank" preserve="1">
  <p:cSld name="结束页">
    <p:bg>
      <p:bgPr>
        <a:blipFill xmlns:a="http://schemas.openxmlformats.org/drawingml/2006/main" rotWithShape="1">
          <a:blip xmlns:r="http://schemas.openxmlformats.org/officeDocument/2006/relationships" r:embed="R874c5c6c8b984f08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图片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b1e2bee1df4c0c"/>
          <a:srcRect xmlns:a="http://schemas.openxmlformats.org/drawingml/2006/main" l="0" t="0" r="3257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7660" y="251460"/>
            <a:ext cx="2133600" cy="289560"/>
          </a:xfrm>
          <a:prstGeom xmlns:a="http://schemas.openxmlformats.org/drawingml/2006/main" prst="rect">
            <a:avLst/>
          </a:prstGeom>
        </p:spPr>
      </p:pic>
      <p:pic>
        <p:nvPicPr>
          <p:cNvPr id="4" name="图片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13cd9b314b48a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672080" y="216535"/>
            <a:ext cx="358775" cy="359410"/>
          </a:xfrm>
          <a:prstGeom xmlns:a="http://schemas.openxmlformats.org/drawingml/2006/main" prst="rect">
            <a:avLst/>
          </a:prstGeom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ae412c5c670d433f" /><Relationship Type="http://schemas.openxmlformats.org/officeDocument/2006/relationships/theme" Target="/ppt/slideMasters/theme/theme2.xml" Id="R8a3189a77ad34211" /><Relationship Type="http://schemas.openxmlformats.org/officeDocument/2006/relationships/slideLayout" Target="/ppt/slideLayouts/slideLayout1.xml" Id="R99500384875c435f" /><Relationship Type="http://schemas.openxmlformats.org/officeDocument/2006/relationships/slideLayout" Target="/ppt/slideLayouts/slideLayout2.xml" Id="Rb25b25ece491466e" /><Relationship Type="http://schemas.openxmlformats.org/officeDocument/2006/relationships/slideLayout" Target="/ppt/slideLayouts/slideLayout3.xml" Id="Rfacf8f992d284efe" /><Relationship Type="http://schemas.openxmlformats.org/officeDocument/2006/relationships/slideLayout" Target="/ppt/slideLayouts/slideLayout4.xml" Id="R5c2addb2b15c42e5" /><Relationship Type="http://schemas.openxmlformats.org/officeDocument/2006/relationships/slideLayout" Target="/ppt/slideLayouts/slideLayout5.xml" Id="R9b155d48dc1f4ac4" /></Relationships>
</file>

<file path=ppt/slideMasters/slideMaster1.xml><?xml version="1.0" encoding="utf-8"?>
<p:sldMaster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ae412c5c670d433f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9500384875c435f"/>
    <p:sldLayoutId xmlns:r="http://schemas.openxmlformats.org/officeDocument/2006/relationships" id="2147483650" r:id="Rb25b25ece491466e"/>
    <p:sldLayoutId xmlns:r="http://schemas.openxmlformats.org/officeDocument/2006/relationships" id="2147483651" r:id="Rfacf8f992d284efe"/>
    <p:sldLayoutId xmlns:r="http://schemas.openxmlformats.org/officeDocument/2006/relationships" id="2147483652" r:id="R5c2addb2b15c42e5"/>
    <p:sldLayoutId xmlns:r="http://schemas.openxmlformats.org/officeDocument/2006/relationships" id="2147483653" r:id="R9b155d48dc1f4ac4"/>
  </p:sldLayoutIdLst>
  <p:txStyles>
    <p:titleStyle>
      <a:lvl1pPr xmlns:a="http://schemas.openxmlformats.org/drawingml/2006/main" algn="l" defTabSz="914400">
        <a:lnSpc>
          <a:spcPct val="100000"/>
        </a:lnSpc>
        <a:spcBef>
          <a:spcPct val="0"/>
        </a:spcBef>
        <a:buNone/>
        <a:defRPr sz="3600" b="0" u="none" kern="1200" cap="none" spc="300" baseline="0">
          <a:solidFill>
            <a:schemeClr val="tx1">
              <a:lumMod val="85000"/>
              <a:lumOff val="15000"/>
            </a:schemeClr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130000"/>
        </a:lnSpc>
        <a:spcBef>
          <a:spcPts val="0"/>
        </a:spcBef>
        <a:spcAft>
          <a:spcPts val="1000"/>
        </a:spcAft>
        <a:buFont typeface="Arial"/>
        <a:buChar char="●"/>
        <a:defRPr sz="1800" u="none" kern="1200" cap="none" spc="150" baseline="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120000"/>
        </a:lnSpc>
        <a:spcBef>
          <a:spcPts val="0"/>
        </a:spcBef>
        <a:spcAft>
          <a:spcPts val="600"/>
        </a:spcAft>
        <a:buFont typeface="Arial"/>
        <a:buChar char="●"/>
        <a:tabLst>
          <a:tab pos="1609725" algn="l"/>
          <a:tab pos="1609725" algn="l"/>
          <a:tab pos="1609725" algn="l"/>
          <a:tab pos="1609725" algn="l"/>
        </a:tabLst>
        <a:defRPr sz="1600" u="none" kern="1200" cap="none" spc="150" baseline="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120000"/>
        </a:lnSpc>
        <a:spcBef>
          <a:spcPts val="0"/>
        </a:spcBef>
        <a:spcAft>
          <a:spcPts val="600"/>
        </a:spcAft>
        <a:buFont typeface="Arial"/>
        <a:buChar char="●"/>
        <a:defRPr sz="1600" u="none" kern="1200" cap="none" spc="150" baseline="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120000"/>
        </a:lnSpc>
        <a:spcBef>
          <a:spcPts val="0"/>
        </a:spcBef>
        <a:spcAft>
          <a:spcPts val="300"/>
        </a:spcAft>
        <a:buFont typeface="Wingdings"/>
        <a:buChar char=""/>
        <a:defRPr sz="1400" u="none" kern="1200" cap="none" spc="150" baseline="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120000"/>
        </a:lnSpc>
        <a:spcBef>
          <a:spcPts val="0"/>
        </a:spcBef>
        <a:spcAft>
          <a:spcPts val="300"/>
        </a:spcAft>
        <a:buFont typeface="Arial"/>
        <a:buChar char="•"/>
        <a:defRPr sz="1400" u="none" kern="1200" cap="none" spc="150" baseline="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封面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701ef2db794e76" /><Relationship Type="http://schemas.openxmlformats.org/officeDocument/2006/relationships/notesSlide" Target="/ppt/notesSlides/notesSlide1.xml" Id="R3387ad7cf5c2464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587221c7b754ce3" /><Relationship Type="http://schemas.openxmlformats.org/officeDocument/2006/relationships/notesSlide" Target="/ppt/notesSlides/notesSlide2.xml" Id="R0c43b7b500804d6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e38274c5ff64042" /><Relationship Type="http://schemas.openxmlformats.org/officeDocument/2006/relationships/notesSlide" Target="/ppt/notesSlides/notesSlide3.xml" Id="Re6c3cac1260f433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54095cbd6eed4630" /><Relationship Type="http://schemas.openxmlformats.org/officeDocument/2006/relationships/image" Target="/ppt/media/image5.png" Id="R8759f52862a14446" /><Relationship Type="http://schemas.openxmlformats.org/officeDocument/2006/relationships/notesSlide" Target="/ppt/notesSlides/notesSlide4.xml" Id="R2c33d3019644460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d93573057f0b4c85" /><Relationship Type="http://schemas.openxmlformats.org/officeDocument/2006/relationships/notesSlide" Target="/ppt/notesSlides/notesSlide5.xml" Id="Rc10e84b92cbd464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da07512dbf3c438a" /><Relationship Type="http://schemas.openxmlformats.org/officeDocument/2006/relationships/notesSlide" Target="/ppt/notesSlides/notesSlide6.xml" Id="Rcb5ca2b6b758465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04c39ac1da7c4c29" /><Relationship Type="http://schemas.openxmlformats.org/officeDocument/2006/relationships/notesSlide" Target="/ppt/notesSlides/notesSlide7.xml" Id="R779bdfb8ad83406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4765d4d173284b71" /><Relationship Type="http://schemas.openxmlformats.org/officeDocument/2006/relationships/image" Target="/ppt/media/image6.png" Id="R7c212a7fb75742d4" /><Relationship Type="http://schemas.openxmlformats.org/officeDocument/2006/relationships/notesSlide" Target="/ppt/notesSlides/notesSlide8.xml" Id="R1ca0cb33728043b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0928962361844597" /><Relationship Type="http://schemas.openxmlformats.org/officeDocument/2006/relationships/notesSlide" Target="/ppt/notesSlides/notesSlide9.xml" Id="R143c94d426144ca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518b94a3cab74547" /><Relationship Type="http://schemas.openxmlformats.org/officeDocument/2006/relationships/notesSlide" Target="/ppt/notesSlides/notesSlide10.xml" Id="Rfcd19e5b67e64c8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b7c1ee510ba047e3" /><Relationship Type="http://schemas.openxmlformats.org/officeDocument/2006/relationships/notesSlide" Target="/ppt/notesSlides/notesSlide11.xml" Id="R8e9f2217ada24c6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49639b0ef83041bf" /><Relationship Type="http://schemas.openxmlformats.org/officeDocument/2006/relationships/notesSlide" Target="/ppt/notesSlides/notesSlide12.xml" Id="Raae0af7f6fc84c6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文本占位符 1">
            <a:extLst xmlns:a="http://schemas.openxmlformats.org/drawingml/2006/main">
              <a:ext uri="{FF2B5EF4-FFF2-40B4-BE49-F238E27FC236}">
                <a16:creationId xmlns:a16="http://schemas.microsoft.com/office/drawing/2014/main" id="{DC936D3E-C0C6-4996-BC50-85F6D649F667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5F9D6E0D-5BDF-412D-9C88-5B552AB66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570" y="3207385"/>
            <a:ext cx="2840355" cy="616585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337DFF">
                  <a:alpha val="50000"/>
                </a:srgbClr>
              </a:gs>
              <a:gs pos="79000">
                <a:srgbClr val="337DFF">
                  <a:alpha val="0"/>
                </a:srgbClr>
              </a:gs>
            </a:gsLst>
            <a:lin ang="0" scaled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477C4D2B-CEC3-43ED-8AC2-F12CFA27D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9565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E4EE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ln>
                  <a:noFill/>
                </a:ln>
                <a:solidFill>
                  <a:srgbClr val="E4EEFF"/>
                </a:solidFill>
                <a:latin typeface="Arial"/>
                <a:ea typeface="Arial"/>
                <a:cs typeface="Arial"/>
              </a:rPr>
              <a:t>CodeArts 团队</a:t>
            </a:r>
            <a:endParaRPr sz="2200">
              <a:ln>
                <a:noFill/>
              </a:ln>
              <a:solidFill>
                <a:schemeClr val="bg1"/>
              </a:solidFill>
            </a:endParaRP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21C534-949A-4CB1-AED9-1664163CA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685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DevOpsPilot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4E7A5C-78FE-412A-AD36-39AF8B820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71750"/>
            <a:ext cx="7810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E4EEF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E4EEFF"/>
                </a:solidFill>
                <a:latin typeface="Arial"/>
                <a:ea typeface="Arial"/>
                <a:cs typeface="Arial"/>
              </a:rPr>
              <a:t>基于移动云 MoMA 的研发交付工作台</a:t>
            </a:r>
          </a:p>
        </p:txBody>
      </p:sp>
    </p:spTree>
    <p:extLst>
      <p:ext uri="{BB962C8B-B14F-4D97-AF65-F5344CB8AC3E}">
        <p14:creationId xmlns:p14="http://schemas.microsoft.com/office/powerpoint/2010/main" val="187254847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文本框 29">
            <a:extLst xmlns:a="http://schemas.openxmlformats.org/drawingml/2006/main">
              <a:ext uri="{FF2B5EF4-FFF2-40B4-BE49-F238E27FC236}">
                <a16:creationId xmlns:a16="http://schemas.microsoft.com/office/drawing/2014/main" id="{0B58C4E5-1CE5-4972-82E4-BFD8BB3ED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562350"/>
            <a:ext cx="2120900" cy="1568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>
                <a:latin typeface="Arial"/>
                <a:ea typeface="Arial"/>
                <a:cs typeface="Arial"/>
              </a:defRPr>
            </a:pPr>
            <a:r>
              <a:rPr sz="9600" b="1">
                <a:gradFill>
                  <a:gsLst>
                    <a:gs pos="0">
                      <a:schemeClr val="bg1">
                        <a:alpha val="49000"/>
                      </a:schemeClr>
                    </a:gs>
                    <a:gs pos="66000">
                      <a:schemeClr val="bg1">
                        <a:alpha val="0"/>
                      </a:schemeClr>
                    </a:gs>
                  </a:gsLst>
                  <a:lin ang="5400000" scaled="0"/>
                </a:gradFill>
                <a:latin typeface="Arial"/>
                <a:ea typeface="Arial"/>
                <a:cs typeface="Arial"/>
              </a:rPr>
              <a:t>04</a:t>
            </a:r>
            <a:endParaRPr sz="9600" b="1">
              <a:gradFill>
                <a:gsLst>
                  <a:gs pos="0">
                    <a:schemeClr val="bg1">
                      <a:alpha val="49000"/>
                    </a:schemeClr>
                  </a:gs>
                  <a:gs pos="66000">
                    <a:schemeClr val="bg1">
                      <a:alpha val="0"/>
                    </a:schemeClr>
                  </a:gs>
                </a:gsLst>
                <a:lin ang="5400000" scaled="0"/>
              </a:gra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7" name="文本框 26">
            <a:extLst xmlns:a="http://schemas.openxmlformats.org/drawingml/2006/main">
              <a:ext uri="{FF2B5EF4-FFF2-40B4-BE49-F238E27FC236}">
                <a16:creationId xmlns:a16="http://schemas.microsoft.com/office/drawing/2014/main" id="{8853335F-AADD-4D2B-8615-8B55F9FB0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562350"/>
            <a:ext cx="2120900" cy="1568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>
                <a:latin typeface="Arial"/>
                <a:ea typeface="Arial"/>
                <a:cs typeface="Arial"/>
              </a:defRPr>
            </a:pPr>
            <a:r>
              <a:rPr sz="9600" b="1">
                <a:gradFill>
                  <a:gsLst>
                    <a:gs pos="0">
                      <a:schemeClr val="bg1">
                        <a:alpha val="49000"/>
                      </a:schemeClr>
                    </a:gs>
                    <a:gs pos="66000">
                      <a:schemeClr val="bg1">
                        <a:alpha val="0"/>
                      </a:schemeClr>
                    </a:gs>
                  </a:gsLst>
                  <a:lin ang="5400000" scaled="0"/>
                </a:gradFill>
                <a:latin typeface="Arial"/>
                <a:ea typeface="Arial"/>
                <a:cs typeface="Arial"/>
              </a:rPr>
              <a:t>03</a:t>
            </a:r>
            <a:endParaRPr sz="9600" b="1">
              <a:gradFill>
                <a:gsLst>
                  <a:gs pos="0">
                    <a:schemeClr val="bg1">
                      <a:alpha val="49000"/>
                    </a:schemeClr>
                  </a:gs>
                  <a:gs pos="66000">
                    <a:schemeClr val="bg1">
                      <a:alpha val="0"/>
                    </a:schemeClr>
                  </a:gs>
                </a:gsLst>
                <a:lin ang="5400000" scaled="0"/>
              </a:gra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44ED3749-A7A1-4002-94E5-3810C7273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687195"/>
            <a:ext cx="2120900" cy="1568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>
                <a:latin typeface="Arial"/>
                <a:ea typeface="Arial"/>
                <a:cs typeface="Arial"/>
              </a:defRPr>
            </a:pPr>
            <a:r>
              <a:rPr sz="9600" b="1">
                <a:gradFill>
                  <a:gsLst>
                    <a:gs pos="0">
                      <a:schemeClr val="bg1">
                        <a:alpha val="49000"/>
                      </a:schemeClr>
                    </a:gs>
                    <a:gs pos="66000">
                      <a:schemeClr val="bg1">
                        <a:alpha val="0"/>
                      </a:schemeClr>
                    </a:gs>
                  </a:gsLst>
                  <a:lin ang="5400000" scaled="0"/>
                </a:gradFill>
                <a:latin typeface="Arial"/>
                <a:ea typeface="Arial"/>
                <a:cs typeface="Arial"/>
              </a:rPr>
              <a:t>02</a:t>
            </a:r>
            <a:endParaRPr sz="9600" b="1">
              <a:gradFill>
                <a:gsLst>
                  <a:gs pos="0">
                    <a:schemeClr val="bg1">
                      <a:alpha val="49000"/>
                    </a:schemeClr>
                  </a:gs>
                  <a:gs pos="66000">
                    <a:schemeClr val="bg1">
                      <a:alpha val="0"/>
                    </a:schemeClr>
                  </a:gs>
                </a:gsLst>
                <a:lin ang="5400000" scaled="0"/>
              </a:gra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文本框 20">
            <a:extLst xmlns:a="http://schemas.openxmlformats.org/drawingml/2006/main">
              <a:ext uri="{FF2B5EF4-FFF2-40B4-BE49-F238E27FC236}">
                <a16:creationId xmlns:a16="http://schemas.microsoft.com/office/drawing/2014/main" id="{D8C346E1-430C-40D7-89D0-A9C0015C2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687195"/>
            <a:ext cx="2120900" cy="1568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>
                <a:latin typeface="Arial"/>
                <a:ea typeface="Arial"/>
                <a:cs typeface="Arial"/>
              </a:defRPr>
            </a:pPr>
            <a:r>
              <a:rPr sz="9600" b="1">
                <a:gradFill>
                  <a:gsLst>
                    <a:gs pos="0">
                      <a:schemeClr val="bg1">
                        <a:alpha val="49000"/>
                      </a:schemeClr>
                    </a:gs>
                    <a:gs pos="66000">
                      <a:schemeClr val="bg1">
                        <a:alpha val="0"/>
                      </a:schemeClr>
                    </a:gs>
                  </a:gsLst>
                  <a:lin ang="5400000" scaled="0"/>
                </a:gradFill>
                <a:latin typeface="Arial"/>
                <a:ea typeface="Arial"/>
                <a:cs typeface="Arial"/>
              </a:rPr>
              <a:t>01</a:t>
            </a:r>
            <a:endParaRPr sz="9600" b="1">
              <a:gradFill>
                <a:gsLst>
                  <a:gs pos="0">
                    <a:schemeClr val="bg1">
                      <a:alpha val="49000"/>
                    </a:schemeClr>
                  </a:gs>
                  <a:gs pos="66000">
                    <a:schemeClr val="bg1">
                      <a:alpha val="0"/>
                    </a:schemeClr>
                  </a:gs>
                </a:gsLst>
                <a:lin ang="5400000" scaled="0"/>
              </a:gra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文本占位符 1">
            <a:extLst xmlns:a="http://schemas.openxmlformats.org/drawingml/2006/main">
              <a:ext uri="{FF2B5EF4-FFF2-40B4-BE49-F238E27FC236}">
                <a16:creationId xmlns:a16="http://schemas.microsoft.com/office/drawing/2014/main" id="{56D5E2D0-1CB6-4BDB-926F-744BAAB6A4AA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FED6F3DE-9CEE-4C42-809A-161AB5F1D078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0B0C2672-C7E5-4B99-8901-D584C0A79578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27AF6CB4-F7C8-4493-956D-0908D14359DA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1320F76C-ED34-495D-A3DF-9B238039F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325" y="2170430"/>
            <a:ext cx="1013460" cy="23329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eaVert" wrap="square">
            <a:spAutoFit/>
          </a:bodyPr>
          <a:lstStyle xmlns:a="http://schemas.openxmlformats.org/drawingml/2006/main"/>
          <a:p xmlns:a="http://schemas.openxmlformats.org/drawingml/2006/main">
            <a:r>
              <a:rPr sz="5400" b="1">
                <a:gradFill>
                  <a:gsLst>
                    <a:gs pos="0">
                      <a:schemeClr val="bg1"/>
                    </a:gs>
                    <a:gs pos="96000">
                      <a:srgbClr val="92BAFF"/>
                    </a:gs>
                  </a:gsLst>
                  <a:lin ang="0" scaled="0"/>
                </a:gradFill>
              </a:rPr>
              <a:t/>
            </a:r>
            <a:endParaRPr sz="5400" b="1">
              <a:gradFill>
                <a:gsLst>
                  <a:gs pos="0">
                    <a:schemeClr val="bg1"/>
                  </a:gs>
                  <a:gs pos="96000">
                    <a:srgbClr val="92BAFF"/>
                  </a:gs>
                </a:gsLst>
                <a:lin ang="0" scaled="0"/>
              </a:gradFill>
            </a:endParaRPr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777324DB-E0FC-43C8-BE01-C5BFED042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6560" y="2181860"/>
            <a:ext cx="798195" cy="39598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eaVert" wrap="square">
            <a:sp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chemeClr val="bg1">
                    <a:alpha val="20000"/>
                  </a:schemeClr>
                </a:solidFill>
                <a:latin typeface="微软雅黑"/>
                <a:ea typeface="微软雅黑"/>
                <a:cs typeface="微软雅黑"/>
              </a:rPr>
              <a:t/>
            </a:r>
            <a:endParaRPr sz="4000" b="1">
              <a:solidFill>
                <a:schemeClr val="bg1">
                  <a:alpha val="20000"/>
                </a:scheme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4D2D626-AE59-49AD-8518-0C4B75902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47900"/>
            <a:ext cx="228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125" b="1">
                <a:solidFill>
                  <a:srgbClr val="E4EEFF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E4EEFF"/>
                </a:solidFill>
                <a:latin typeface="Arial"/>
                <a:ea typeface="Arial"/>
                <a:cs typeface="Arial"/>
              </a:rPr>
              <a:t>目录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6C7D62D-725A-4371-99D1-A6C70619E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8610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E4EEF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E4EEFF"/>
                </a:solidFill>
                <a:latin typeface="Arial"/>
                <a:ea typeface="Arial"/>
                <a:cs typeface="Arial"/>
              </a:rPr>
              <a:t>CONTENTS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E5F0C8D-FF1A-4AFC-81B5-C1098CF63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857500"/>
            <a:ext cx="295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E4EE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4EEFF"/>
                </a:solidFill>
                <a:latin typeface="Arial"/>
                <a:ea typeface="Arial"/>
                <a:cs typeface="Arial"/>
              </a:rPr>
              <a:t>Agent简介与能力设计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62984F6-33BE-4C59-908F-D75FEACFC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57500"/>
            <a:ext cx="295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E4EE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4EEFF"/>
                </a:solidFill>
                <a:latin typeface="Arial"/>
                <a:ea typeface="Arial"/>
                <a:cs typeface="Arial"/>
              </a:rPr>
              <a:t>技术实现与可信门禁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04C7C12-EB3C-40F5-9DB1-152C9E74D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714875"/>
            <a:ext cx="295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E4EE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4EEFF"/>
                </a:solidFill>
                <a:latin typeface="Arial"/>
                <a:ea typeface="Arial"/>
                <a:cs typeface="Arial"/>
              </a:rPr>
              <a:t>真实交付与效果评估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C9CE5A7-FFE9-4DA6-8494-9E6B7C6BD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714875"/>
            <a:ext cx="295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E4EE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4EEFF"/>
                </a:solidFill>
                <a:latin typeface="Arial"/>
                <a:ea typeface="Arial"/>
                <a:cs typeface="Arial"/>
              </a:rPr>
              <a:t>商业价值与产品路线</a:t>
            </a:r>
          </a:p>
        </p:txBody>
      </p:sp>
    </p:spTree>
    <p:extLst>
      <p:ext uri="{BB962C8B-B14F-4D97-AF65-F5344CB8AC3E}">
        <p14:creationId xmlns:p14="http://schemas.microsoft.com/office/powerpoint/2010/main" val="209448597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文本占位符 1">
            <a:extLst xmlns:a="http://schemas.openxmlformats.org/drawingml/2006/main">
              <a:ext uri="{FF2B5EF4-FFF2-40B4-BE49-F238E27FC236}">
                <a16:creationId xmlns:a16="http://schemas.microsoft.com/office/drawing/2014/main" id="{103A48DE-9C54-47B3-B557-358537A2EAEE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A6667275-E6B0-4D93-847A-F49541AA7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047875"/>
            <a:ext cx="6667500" cy="800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E4EEFF"/>
                </a:solidFill>
                <a:latin typeface="Arial"/>
                <a:ea typeface="Arial"/>
                <a:cs typeface="Arial"/>
              </a:defRPr>
            </a:pPr>
            <a:r>
              <a:rPr sz="3600" b="1" i="1">
                <a:ln>
                  <a:noFill/>
                </a:ln>
                <a:solidFill>
                  <a:srgbClr val="E4EEFF"/>
                </a:solidFill>
                <a:latin typeface="Arial"/>
                <a:ea typeface="Arial"/>
                <a:cs typeface="Arial"/>
              </a:rPr>
              <a:t>Agent 简介</a:t>
            </a:r>
            <a:endParaRPr sz="4000" b="1" i="1">
              <a:ln>
                <a:noFill/>
              </a:ln>
              <a:gradFill>
                <a:gsLst>
                  <a:gs pos="0">
                    <a:schemeClr val="bg1"/>
                  </a:gs>
                  <a:gs pos="100000">
                    <a:srgbClr val="92BAFF"/>
                  </a:gs>
                </a:gsLst>
                <a:lin ang="0" scaled="0"/>
              </a:gradFill>
            </a:endParaRPr>
          </a:p>
        </p:txBody>
      </p:sp>
      <p:sp>
        <p:nvSpPr>
          <p:cNvPr id="21" name="圆角矩形 20">
            <a:extLst xmlns:a="http://schemas.openxmlformats.org/drawingml/2006/main">
              <a:ext uri="{FF2B5EF4-FFF2-40B4-BE49-F238E27FC236}">
                <a16:creationId xmlns:a16="http://schemas.microsoft.com/office/drawing/2014/main" id="{D91B6155-3693-453D-A1C4-1146317DA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6070" y="3107690"/>
            <a:ext cx="4043045" cy="9525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0">
                <a:srgbClr val="337DFF">
                  <a:alpha val="50000"/>
                </a:srgbClr>
              </a:gs>
              <a:gs pos="100000">
                <a:srgbClr val="33CDFF">
                  <a:alpha val="50000"/>
                </a:srgbClr>
              </a:gs>
            </a:gsLst>
            <a:lin ang="0" scaled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F51165-AD23-4C62-ADEC-4EC505E68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667125"/>
            <a:ext cx="809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E4EE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4EEFF"/>
                </a:solidFill>
                <a:latin typeface="Arial"/>
                <a:ea typeface="Arial"/>
                <a:cs typeface="Arial"/>
              </a:rPr>
              <a:t>目标用户：研发维护人员与 DevOps 工程师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581681-E915-4CC3-A17C-8506D65A9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191000"/>
            <a:ext cx="809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E4EE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4EEFF"/>
                </a:solidFill>
                <a:latin typeface="Arial"/>
                <a:ea typeface="Arial"/>
                <a:cs typeface="Arial"/>
              </a:rPr>
              <a:t>任务：把真实 Issue 交付为可审查的 PR 与 CI 证据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F029BD4-4E85-47BE-AB54-B72A859E9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714875"/>
            <a:ext cx="809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E4EE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4EEFF"/>
                </a:solidFill>
                <a:latin typeface="Arial"/>
                <a:ea typeface="Arial"/>
                <a:cs typeface="Arial"/>
              </a:rPr>
              <a:t>先验证小范围、可回滚的仓库维护场景</a:t>
            </a:r>
          </a:p>
        </p:txBody>
      </p:sp>
    </p:spTree>
    <p:extLst>
      <p:ext uri="{BB962C8B-B14F-4D97-AF65-F5344CB8AC3E}">
        <p14:creationId xmlns:p14="http://schemas.microsoft.com/office/powerpoint/2010/main" val="197545902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5104C593-54E0-4AC7-96A8-68B24005668B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6B8B5AB5-C676-4F2B-8110-00375496E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89535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000" b="1">
                <a:solidFill>
                  <a:srgbClr val="E4EE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ln>
                  <a:noFill/>
                </a:ln>
                <a:solidFill>
                  <a:srgbClr val="E4EEFF"/>
                </a:solidFill>
                <a:latin typeface="Arial"/>
                <a:ea typeface="Arial"/>
                <a:cs typeface="Arial"/>
              </a:rPr>
              <a:t>能力设计与真实 Web</a:t>
            </a:r>
            <a:endParaRPr sz="2400">
              <a:ln>
                <a:noFill/>
              </a:ln>
              <a:solidFill>
                <a:schemeClr val="lt1"/>
              </a:solidFill>
            </a:endParaRP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D8A841-9D3D-4CD6-92BA-CE53088EE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24050"/>
            <a:ext cx="4667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E4EE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4EEFF"/>
                </a:solidFill>
                <a:latin typeface="Arial"/>
                <a:ea typeface="Arial"/>
                <a:cs typeface="Arial"/>
              </a:rPr>
              <a:t>项目接入、真实 Issue 同步与可信配置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41A4D0-783B-4EDD-A0E4-C736007F8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43200"/>
            <a:ext cx="4667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E4EE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4EEFF"/>
                </a:solidFill>
                <a:latin typeface="Arial"/>
                <a:ea typeface="Arial"/>
                <a:cs typeface="Arial"/>
              </a:rPr>
              <a:t>持久化五阶段流水线、后台执行和恢复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E64E79-CC9E-48FC-B548-0C54CDA8D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62350"/>
            <a:ext cx="4667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E4EE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4EEFF"/>
                </a:solidFill>
                <a:latin typeface="Arial"/>
                <a:ea typeface="Arial"/>
                <a:cs typeface="Arial"/>
              </a:rPr>
              <a:t>定时任务、MoMA Chat与证据下载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59f52862a14446"/>
          <a:stretch xmlns:a="http://schemas.openxmlformats.org/drawingml/2006/main"/>
        </p:blipFill>
        <p:spPr>
          <a:xfrm xmlns:a="http://schemas.openxmlformats.org/drawingml/2006/main">
            <a:off x="6000750" y="2423220"/>
            <a:ext cx="5429250" cy="2544961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7D8E17-3E07-407B-8356-407BECFDB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200775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FC8E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FC8ED"/>
                </a:solidFill>
                <a:latin typeface="Arial"/>
                <a:ea typeface="Arial"/>
                <a:cs typeface="Arial"/>
              </a:rPr>
              <a:t>CodeArts · 2026模型应用赛  |  4 / 12</a:t>
            </a:r>
          </a:p>
        </p:txBody>
      </p:sp>
    </p:spTree>
    <p:extLst>
      <p:ext uri="{BB962C8B-B14F-4D97-AF65-F5344CB8AC3E}">
        <p14:creationId xmlns:p14="http://schemas.microsoft.com/office/powerpoint/2010/main" val="97542205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5104C593-54E0-4AC7-96A8-68B24005668B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6B8B5AB5-C676-4F2B-8110-00375496E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89535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000" b="1">
                <a:solidFill>
                  <a:srgbClr val="E4EE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ln>
                  <a:noFill/>
                </a:ln>
                <a:solidFill>
                  <a:srgbClr val="E4EEFF"/>
                </a:solidFill>
                <a:latin typeface="Arial"/>
                <a:ea typeface="Arial"/>
                <a:cs typeface="Arial"/>
              </a:rPr>
              <a:t>技术架构与模型分工</a:t>
            </a:r>
            <a:endParaRPr sz="2400">
              <a:ln>
                <a:noFill/>
              </a:ln>
              <a:solidFill>
                <a:schemeClr val="lt1"/>
              </a:solidFill>
            </a:endParaRP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7F43A5-1A8C-4059-9EC5-5DAB1E3E8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2405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E4EEF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E4EEFF"/>
                </a:solidFill>
                <a:latin typeface="Arial"/>
                <a:ea typeface="Arial"/>
                <a:cs typeface="Arial"/>
              </a:rPr>
              <a:t>Web / CLI → 控制面 → OpenJiuwen 执行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9BDE4D-84D3-43A3-9D20-3F69D9174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6225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E4EEF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E4EEFF"/>
                </a:solidFill>
                <a:latin typeface="Arial"/>
                <a:ea typeface="Arial"/>
                <a:cs typeface="Arial"/>
              </a:rPr>
              <a:t>MoMA：Qwen3-32B编码，GLM-5.3推理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E24733-3DF6-4F6A-8BC3-9DFA115B2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0045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E4EEF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E4EEFF"/>
                </a:solidFill>
                <a:latin typeface="Arial"/>
                <a:ea typeface="Arial"/>
                <a:cs typeface="Arial"/>
              </a:rPr>
              <a:t>deepseek-v4.1-flash：快速角色与只读审查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ABF899-5EBE-4735-8E27-416B575C9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3865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E4EEF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E4EEFF"/>
                </a:solidFill>
                <a:latin typeface="Arial"/>
                <a:ea typeface="Arial"/>
                <a:cs typeface="Arial"/>
              </a:rPr>
              <a:t>SQLite状态与账本连接 SCM、CI 和轨迹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2C7B09-3BA2-4C4B-A65E-384F642B3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200775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FC8E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FC8ED"/>
                </a:solidFill>
                <a:latin typeface="Arial"/>
                <a:ea typeface="Arial"/>
                <a:cs typeface="Arial"/>
              </a:rPr>
              <a:t>CodeArts · 2026模型应用赛  |  5 / 12</a:t>
            </a:r>
          </a:p>
        </p:txBody>
      </p:sp>
    </p:spTree>
    <p:extLst>
      <p:ext uri="{BB962C8B-B14F-4D97-AF65-F5344CB8AC3E}">
        <p14:creationId xmlns:p14="http://schemas.microsoft.com/office/powerpoint/2010/main" val="97542205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5104C593-54E0-4AC7-96A8-68B24005668B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6B8B5AB5-C676-4F2B-8110-00375496E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89535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000" b="1">
                <a:solidFill>
                  <a:srgbClr val="E4EE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ln>
                  <a:noFill/>
                </a:ln>
                <a:solidFill>
                  <a:srgbClr val="E4EEFF"/>
                </a:solidFill>
                <a:latin typeface="Arial"/>
                <a:ea typeface="Arial"/>
                <a:cs typeface="Arial"/>
              </a:rPr>
              <a:t>Prompt与工具策略</a:t>
            </a:r>
            <a:endParaRPr sz="2400">
              <a:ln>
                <a:noFill/>
              </a:ln>
              <a:solidFill>
                <a:schemeClr val="lt1"/>
              </a:solidFill>
            </a:endParaRP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C871A2-E66E-47C4-9BD8-FBFDA787C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2405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E4EEF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E4EEFF"/>
                </a:solidFill>
                <a:latin typeface="Arial"/>
                <a:ea typeface="Arial"/>
                <a:cs typeface="Arial"/>
              </a:rPr>
              <a:t>提供目标、上下文、路径边界、测试与预算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6740BE-C0E3-41C2-98F4-12D2C541B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6225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E4EEF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E4EEFF"/>
                </a:solidFill>
                <a:latin typeface="Arial"/>
                <a:ea typeface="Arial"/>
                <a:cs typeface="Arial"/>
              </a:rPr>
              <a:t>任务正文不得覆盖操作员可信配置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550D25-A444-44B3-9832-CD04540A3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0045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E4EEF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E4EEFF"/>
                </a:solidFill>
                <a:latin typeface="Arial"/>
                <a:ea typeface="Arial"/>
                <a:cs typeface="Arial"/>
              </a:rPr>
              <a:t>最终diff与独立测试结果进入只读Review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34D183-4A91-44F8-9F82-3F1E6F0A5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3865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E4EEF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E4EEFF"/>
                </a:solidFill>
                <a:latin typeface="Arial"/>
                <a:ea typeface="Arial"/>
                <a:cs typeface="Arial"/>
              </a:rPr>
              <a:t>宿主校验审查格式、裁决和diff摘要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C1381C-403A-4A7C-A99E-AD1EAD1C5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200775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FC8E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FC8ED"/>
                </a:solidFill>
                <a:latin typeface="Arial"/>
                <a:ea typeface="Arial"/>
                <a:cs typeface="Arial"/>
              </a:rPr>
              <a:t>CodeArts · 2026模型应用赛  |  6 / 12</a:t>
            </a:r>
          </a:p>
        </p:txBody>
      </p:sp>
    </p:spTree>
    <p:extLst>
      <p:ext uri="{BB962C8B-B14F-4D97-AF65-F5344CB8AC3E}">
        <p14:creationId xmlns:p14="http://schemas.microsoft.com/office/powerpoint/2010/main" val="97542205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5104C593-54E0-4AC7-96A8-68B24005668B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6B8B5AB5-C676-4F2B-8110-00375496E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89535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000" b="1">
                <a:solidFill>
                  <a:srgbClr val="E4EE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ln>
                  <a:noFill/>
                </a:ln>
                <a:solidFill>
                  <a:srgbClr val="E4EEFF"/>
                </a:solidFill>
                <a:latin typeface="Arial"/>
                <a:ea typeface="Arial"/>
                <a:cs typeface="Arial"/>
              </a:rPr>
              <a:t>交付门禁与恢复</a:t>
            </a:r>
            <a:endParaRPr sz="2400">
              <a:ln>
                <a:noFill/>
              </a:ln>
              <a:solidFill>
                <a:schemeClr val="lt1"/>
              </a:solidFill>
            </a:endParaRP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DEC0A0-1DB5-4DD0-AD49-D9865870E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2405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E4EEF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E4EEFF"/>
                </a:solidFill>
                <a:latin typeface="Arial"/>
                <a:ea typeface="Arial"/>
                <a:cs typeface="Arial"/>
              </a:rPr>
              <a:t>审查缺失、拒绝或过期时阻止提交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F7B18F-7B3C-42B6-81EA-8C8359B87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6225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E4EEF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E4EEFF"/>
                </a:solidFill>
                <a:latin typeface="Arial"/>
                <a:ea typeface="Arial"/>
                <a:cs typeface="Arial"/>
              </a:rPr>
              <a:t>CI需要真实提交与required checks证据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6C58AE-64A9-4E78-8F6D-F3F353A0F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0045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E4EEF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E4EEFF"/>
                </a:solidFill>
                <a:latin typeface="Arial"/>
                <a:ea typeface="Arial"/>
                <a:cs typeface="Arial"/>
              </a:rPr>
              <a:t>持久化意图、预算与resume管理副作用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C43ACA-8C3D-4A21-ADBA-4A3F67FE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3865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E4EEF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E4EEFF"/>
                </a:solidFill>
                <a:latin typeface="Arial"/>
                <a:ea typeface="Arial"/>
                <a:cs typeface="Arial"/>
              </a:rPr>
              <a:t>超时和证据不足明确显示降级或阻断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7BA819-C142-4B9E-9C76-6CDFA0599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200775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FC8E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FC8ED"/>
                </a:solidFill>
                <a:latin typeface="Arial"/>
                <a:ea typeface="Arial"/>
                <a:cs typeface="Arial"/>
              </a:rPr>
              <a:t>CodeArts · 2026模型应用赛  |  7 / 12</a:t>
            </a:r>
          </a:p>
        </p:txBody>
      </p:sp>
    </p:spTree>
    <p:extLst>
      <p:ext uri="{BB962C8B-B14F-4D97-AF65-F5344CB8AC3E}">
        <p14:creationId xmlns:p14="http://schemas.microsoft.com/office/powerpoint/2010/main" val="97542205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5104C593-54E0-4AC7-96A8-68B24005668B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6B8B5AB5-C676-4F2B-8110-00375496E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89535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000" b="1">
                <a:solidFill>
                  <a:srgbClr val="E4EE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ln>
                  <a:noFill/>
                </a:ln>
                <a:solidFill>
                  <a:srgbClr val="E4EEFF"/>
                </a:solidFill>
                <a:latin typeface="Arial"/>
                <a:ea typeface="Arial"/>
                <a:cs typeface="Arial"/>
              </a:rPr>
              <a:t>真实交付结果</a:t>
            </a:r>
            <a:endParaRPr sz="2400">
              <a:ln>
                <a:noFill/>
              </a:ln>
              <a:solidFill>
                <a:schemeClr val="lt1"/>
              </a:solidFill>
            </a:endParaRP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A6EC78-B334-4F6B-BAD8-CF70F1227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24050"/>
            <a:ext cx="4667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E4EE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4EEFF"/>
                </a:solidFill>
                <a:latin typeface="Arial"/>
                <a:ea typeface="Arial"/>
                <a:cs typeface="Arial"/>
              </a:rPr>
              <a:t>Issue #7 → 未合并 PR #8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070436-6280-41FD-BECB-CCE97547A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43200"/>
            <a:ext cx="4667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E4EE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4EEFF"/>
                </a:solidFill>
                <a:latin typeface="Arial"/>
                <a:ea typeface="Arial"/>
                <a:cs typeface="Arial"/>
              </a:rPr>
              <a:t>Commit 105d74d7fe03 · CI run 37601566835成功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74F5AA-B173-447A-A3AC-165FF0866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62350"/>
            <a:ext cx="4667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E4EE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4EEFF"/>
                </a:solidFill>
                <a:latin typeface="Arial"/>
                <a:ea typeface="Arial"/>
                <a:cs typeface="Arial"/>
              </a:rPr>
              <a:t>AgentTeam超时：verified_degraded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BF0618-8899-4584-B0B4-D6EDEED97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81500"/>
            <a:ext cx="4667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E4EE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4EEFF"/>
                </a:solidFill>
                <a:latin typeface="Arial"/>
                <a:ea typeface="Arial"/>
                <a:cs typeface="Arial"/>
              </a:rPr>
              <a:t>原运行发布后补审；修复后完整Live待重跑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212a7fb75742d4"/>
          <a:stretch xmlns:a="http://schemas.openxmlformats.org/drawingml/2006/main"/>
        </p:blipFill>
        <p:spPr>
          <a:xfrm xmlns:a="http://schemas.openxmlformats.org/drawingml/2006/main">
            <a:off x="6000750" y="2423220"/>
            <a:ext cx="5429250" cy="2544961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44A468-1558-4A3E-973E-27CE15D5C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200775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FC8E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FC8ED"/>
                </a:solidFill>
                <a:latin typeface="Arial"/>
                <a:ea typeface="Arial"/>
                <a:cs typeface="Arial"/>
              </a:rPr>
              <a:t>CodeArts · 2026模型应用赛  |  8 / 12</a:t>
            </a:r>
          </a:p>
        </p:txBody>
      </p:sp>
    </p:spTree>
    <p:extLst>
      <p:ext uri="{BB962C8B-B14F-4D97-AF65-F5344CB8AC3E}">
        <p14:creationId xmlns:p14="http://schemas.microsoft.com/office/powerpoint/2010/main" val="97542205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5104C593-54E0-4AC7-96A8-68B24005668B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6B8B5AB5-C676-4F2B-8110-00375496E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89535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000" b="1">
                <a:solidFill>
                  <a:srgbClr val="E4EE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ln>
                  <a:noFill/>
                </a:ln>
                <a:solidFill>
                  <a:srgbClr val="E4EEFF"/>
                </a:solidFill>
                <a:latin typeface="Arial"/>
                <a:ea typeface="Arial"/>
                <a:cs typeface="Arial"/>
              </a:rPr>
              <a:t>效果评估</a:t>
            </a:r>
            <a:endParaRPr sz="2400">
              <a:ln>
                <a:noFill/>
              </a:ln>
              <a:solidFill>
                <a:schemeClr val="lt1"/>
              </a:solidFill>
            </a:endParaRP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797F95-A5E1-43D7-A61B-72D76AC6E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2405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E4EEF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E4EEFF"/>
                </a:solidFill>
                <a:latin typeface="Arial"/>
                <a:ea typeface="Arial"/>
                <a:cs typeface="Arial"/>
              </a:rPr>
              <a:t>41 / 41 离线检查通过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89520A-310E-4609-B023-388540F0B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6225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E4EEF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E4EEFF"/>
                </a:solidFill>
                <a:latin typeface="Arial"/>
                <a:ea typeface="Arial"/>
                <a:cs typeface="Arial"/>
              </a:rPr>
              <a:t>24 / 24 题库预置验证通过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13AF7F-1F03-4DA6-AC02-D67E4FF46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0045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E4EEF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E4EEFF"/>
                </a:solidFill>
                <a:latin typeface="Arial"/>
                <a:ea typeface="Arial"/>
                <a:cs typeface="Arial"/>
              </a:rPr>
              <a:t>24例：三类各8；holdout共6例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DBC3E7-3A0B-4B56-906B-B230EBA53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3865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E4EEF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E4EEFF"/>
                </a:solidFill>
                <a:latin typeface="Arial"/>
                <a:ea typeface="Arial"/>
                <a:cs typeface="Arial"/>
              </a:rPr>
              <a:t>完整模型对照结果未齐，不宣称收益提升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98CE4A-7F8A-4785-BB1B-3AE8EF806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200775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FC8E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FC8ED"/>
                </a:solidFill>
                <a:latin typeface="Arial"/>
                <a:ea typeface="Arial"/>
                <a:cs typeface="Arial"/>
              </a:rPr>
              <a:t>CodeArts · 2026模型应用赛  |  9 / 12</a:t>
            </a:r>
          </a:p>
        </p:txBody>
      </p:sp>
    </p:spTree>
    <p:extLst>
      <p:ext uri="{BB962C8B-B14F-4D97-AF65-F5344CB8AC3E}">
        <p14:creationId xmlns:p14="http://schemas.microsoft.com/office/powerpoint/2010/main" val="97542205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5104C593-54E0-4AC7-96A8-68B24005668B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6B8B5AB5-C676-4F2B-8110-00375496E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89535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000" b="1">
                <a:solidFill>
                  <a:srgbClr val="E4EE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ln>
                  <a:noFill/>
                </a:ln>
                <a:solidFill>
                  <a:srgbClr val="E4EEFF"/>
                </a:solidFill>
                <a:latin typeface="Arial"/>
                <a:ea typeface="Arial"/>
                <a:cs typeface="Arial"/>
              </a:rPr>
              <a:t>商业价值与试点路径</a:t>
            </a:r>
            <a:endParaRPr sz="2400">
              <a:ln>
                <a:noFill/>
              </a:ln>
              <a:solidFill>
                <a:schemeClr val="lt1"/>
              </a:solidFill>
            </a:endParaRP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8E22B7-9602-4C13-A35E-25F30B7AC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2405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E4EEF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E4EEFF"/>
                </a:solidFill>
                <a:latin typeface="Arial"/>
                <a:ea typeface="Arial"/>
                <a:cs typeface="Arial"/>
              </a:rPr>
              <a:t>客户假设：已有代码仓库和CI的研发团队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74AFA0-8462-441A-B7D3-457623CC7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6225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E4EEF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E4EEFF"/>
                </a:solidFill>
                <a:latin typeface="Arial"/>
                <a:ea typeface="Arial"/>
                <a:cs typeface="Arial"/>
              </a:rPr>
              <a:t>价值假设：减少工具切换，保留交付证据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DD0D4C-2DC8-4346-83A3-2C017D5F8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0045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E4EEF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E4EEFF"/>
                </a:solidFill>
                <a:latin typeface="Arial"/>
                <a:ea typeface="Arial"/>
                <a:cs typeface="Arial"/>
              </a:rPr>
              <a:t>先试点维护任务，衡量人工复核与调用成本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91D3D6-CF36-4912-85A9-1B94662B3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3865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E4EEF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E4EEFF"/>
                </a:solidFill>
                <a:latin typeface="Arial"/>
                <a:ea typeface="Arial"/>
                <a:cs typeface="Arial"/>
              </a:rPr>
              <a:t>私有化支持、团队订阅与行业Pack服务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837028-B375-4D71-9FAE-33281A510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200775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FC8E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FC8ED"/>
                </a:solidFill>
                <a:latin typeface="Arial"/>
                <a:ea typeface="Arial"/>
                <a:cs typeface="Arial"/>
              </a:rPr>
              <a:t>CodeArts · 2026模型应用赛  |  10 / 12</a:t>
            </a:r>
          </a:p>
        </p:txBody>
      </p:sp>
    </p:spTree>
    <p:extLst>
      <p:ext uri="{BB962C8B-B14F-4D97-AF65-F5344CB8AC3E}">
        <p14:creationId xmlns:p14="http://schemas.microsoft.com/office/powerpoint/2010/main" val="975422054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5104C593-54E0-4AC7-96A8-68B24005668B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6B8B5AB5-C676-4F2B-8110-00375496E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89535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000" b="1">
                <a:solidFill>
                  <a:srgbClr val="E4EE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ln>
                  <a:noFill/>
                </a:ln>
                <a:solidFill>
                  <a:srgbClr val="E4EEFF"/>
                </a:solidFill>
                <a:latin typeface="Arial"/>
                <a:ea typeface="Arial"/>
                <a:cs typeface="Arial"/>
              </a:rPr>
              <a:t>产品RoadMap</a:t>
            </a:r>
            <a:endParaRPr sz="2400">
              <a:ln>
                <a:noFill/>
              </a:ln>
              <a:solidFill>
                <a:schemeClr val="lt1"/>
              </a:solidFill>
            </a:endParaRP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229B78-832C-4DA1-87C1-E935444D4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2405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E4EEF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E4EEFF"/>
                </a:solidFill>
                <a:latin typeface="Arial"/>
                <a:ea typeface="Arial"/>
                <a:cs typeface="Arial"/>
              </a:rPr>
              <a:t>提交基线：统一模板、正式材料、可携带证据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703CA4-8191-47F2-9AAD-98AEA473C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6225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E4EEF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E4EEFF"/>
                </a:solidFill>
                <a:latin typeface="Arial"/>
                <a:ea typeface="Arial"/>
                <a:cs typeface="Arial"/>
              </a:rPr>
              <a:t>稳定版：Runtime终止与前置Review Live签收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0C2C6E-F39A-4DE6-885B-DEFD7AFF0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0045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E4EEF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E4EEFF"/>
                </a:solidFill>
                <a:latin typeface="Arial"/>
                <a:ea typeface="Arial"/>
                <a:cs typeface="Arial"/>
              </a:rPr>
              <a:t>V1：CI红转绿、行业Gate、中断恢复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AA3AD0-BC78-41B8-A275-194E5F215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3865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E4EEF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E4EEFF"/>
                </a:solidFill>
                <a:latin typeface="Arial"/>
                <a:ea typeface="Arial"/>
                <a:cs typeface="Arial"/>
              </a:rPr>
              <a:t>评测与试点：288条实验、受控进化、企业治理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ACF653-7112-4813-9828-B05BCDD81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200775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FC8E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FC8ED"/>
                </a:solidFill>
                <a:latin typeface="Arial"/>
                <a:ea typeface="Arial"/>
                <a:cs typeface="Arial"/>
              </a:rPr>
              <a:t>CodeArts · 2026模型应用赛  |  11 / 12</a:t>
            </a:r>
          </a:p>
        </p:txBody>
      </p:sp>
    </p:spTree>
    <p:extLst>
      <p:ext uri="{BB962C8B-B14F-4D97-AF65-F5344CB8AC3E}">
        <p14:creationId xmlns:p14="http://schemas.microsoft.com/office/powerpoint/2010/main" val="975422054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8764C452-C28B-4A60-8A3F-A4A33219C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705" y="1842770"/>
            <a:ext cx="4414520" cy="13220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0" b="1">
                <a:ln>
                  <a:noFill/>
                </a:ln>
                <a:gradFill>
                  <a:gsLst>
                    <a:gs pos="0">
                      <a:schemeClr val="bg1"/>
                    </a:gs>
                    <a:gs pos="100000">
                      <a:srgbClr val="92BAFF"/>
                    </a:gs>
                  </a:gsLst>
                  <a:lin ang="0" scaled="0"/>
                </a:gradFill>
              </a:rPr>
              <a:t/>
            </a:r>
            <a:endParaRPr sz="8000" b="1">
              <a:ln>
                <a:noFill/>
              </a:ln>
              <a:gradFill>
                <a:gsLst>
                  <a:gs pos="0">
                    <a:schemeClr val="bg1"/>
                  </a:gs>
                  <a:gs pos="100000">
                    <a:srgbClr val="92BAFF"/>
                  </a:gs>
                </a:gsLst>
                <a:lin ang="0" scaled="0"/>
              </a:gradFill>
            </a:endParaRP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138DB86E-264B-4F70-ACCB-ED2A093DD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705" y="3164840"/>
            <a:ext cx="4415155" cy="82994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4800" b="1">
                <a:ln>
                  <a:noFill/>
                </a:ln>
                <a:solidFill>
                  <a:schemeClr val="lt1"/>
                </a:solidFill>
              </a:rPr>
              <a:t/>
            </a:r>
            <a:endParaRPr sz="4800" b="1">
              <a:ln>
                <a:noFill/>
              </a:ln>
              <a:solidFill>
                <a:schemeClr val="lt1"/>
              </a:solidFill>
            </a:endParaRP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90F100-BDF1-473F-8E21-4EA3A1134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14500"/>
            <a:ext cx="8096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THANKS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B22D44-B702-482B-A1FD-A5DE0BBF5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7620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感谢您的观看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5B5235-34EB-404A-8811-95A7D4866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238625"/>
            <a:ext cx="647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E4EE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E4EEFF"/>
                </a:solidFill>
                <a:latin typeface="Arial"/>
                <a:ea typeface="Arial"/>
                <a:cs typeface="Arial"/>
              </a:rPr>
              <a:t>CodeArts · DevOpsPilot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989FD5-09ED-4CD1-B411-F133A7E43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62525"/>
            <a:ext cx="685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E4EEF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E4EEFF"/>
                </a:solidFill>
                <a:latin typeface="Arial"/>
                <a:ea typeface="Arial"/>
                <a:cs typeface="Arial"/>
              </a:rPr>
              <a:t>证据、边界与复现路径随包交付</a:t>
            </a:r>
          </a:p>
        </p:txBody>
      </p:sp>
    </p:spTree>
    <p:extLst>
      <p:ext uri="{BB962C8B-B14F-4D97-AF65-F5344CB8AC3E}">
        <p14:creationId xmlns:p14="http://schemas.microsoft.com/office/powerpoint/2010/main" val="742942407"/>
      </p:ext>
    </p:extLst>
  </p:cSld>
</p:sld>
</file>

<file path=ppt/theme/theme1.xml><?xml version="1.0" encoding="utf-8"?>
<a:theme xmlns:a="http://schemas.openxmlformats.org/drawingml/2006/main" name="封面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2026-10-07T15:23:52.8740000Z</dcterms:created>
  <dcterms:modified xsi:type="dcterms:W3CDTF">2026-10-07T15:23:52.8740000Z</dcterms:modified>
</coreProperties>
</file>